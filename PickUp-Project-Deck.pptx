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732420" y="772455"/>
            <a:ext cx="180975" cy="180975"/>
          </a:xfrm>
          <a:prstGeom prst="ellipse">
            <a:avLst/>
          </a:prstGeom>
          <a:solidFill>
            <a:srgbClr val="FA731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116" y="3800066"/>
            <a:ext cx="366712" cy="366712"/>
          </a:xfrm>
          <a:prstGeom prst="ellipse">
            <a:avLst/>
          </a:prstGeom>
          <a:solidFill>
            <a:srgbClr val="4E45E2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07" y="2552291"/>
            <a:ext cx="1171575" cy="228600"/>
          </a:xfrm>
          <a:prstGeom prst="roundRect">
            <a:avLst>
              <a:gd name="adj" fmla="val 50000"/>
            </a:avLst>
          </a:prstGeom>
          <a:solidFill>
            <a:srgbClr val="4E45E2">
              <a:alpha val="1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871" y="2587005"/>
            <a:ext cx="134135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47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BRIEF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31490" y="2835622"/>
            <a:ext cx="2467771" cy="738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60" b="1" spc="-268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pPr algn="l" indent="0" marL="0">
              <a:buNone/>
            </a:pPr>
            <a:r>
              <a:rPr lang="en-US" sz="4460" b="1" spc="-268" kern="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4460" dirty="0"/>
          </a:p>
        </p:txBody>
      </p:sp>
      <p:sp>
        <p:nvSpPr>
          <p:cNvPr id="10" name="Text 8"/>
          <p:cNvSpPr/>
          <p:nvPr/>
        </p:nvSpPr>
        <p:spPr>
          <a:xfrm>
            <a:off x="731490" y="3633267"/>
            <a:ext cx="3466304" cy="1025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1"/>
              </a:lnSpc>
              <a:buNone/>
            </a:pPr>
            <a:r>
              <a:rPr lang="en-US" sz="151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better way to get the game</a:t>
            </a:r>
            <a:endParaRPr lang="en-US" sz="1510" dirty="0"/>
          </a:p>
          <a:p>
            <a:pPr algn="l" indent="0" marL="0">
              <a:lnSpc>
                <a:spcPts val="2041"/>
              </a:lnSpc>
              <a:buNone/>
            </a:pPr>
            <a:r>
              <a:rPr lang="en-US" sz="151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on.</a:t>
            </a:r>
            <a:endParaRPr lang="en-US" sz="1510" dirty="0"/>
          </a:p>
          <a:p>
            <a:pPr algn="l" indent="0" marL="0">
              <a:lnSpc>
                <a:spcPts val="2041"/>
              </a:lnSpc>
              <a:buNone/>
            </a:pPr>
            <a:r>
              <a:rPr lang="en-US" sz="151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AI-powered pickup sports</a:t>
            </a:r>
            <a:endParaRPr lang="en-US" sz="1510" dirty="0"/>
          </a:p>
          <a:p>
            <a:pPr algn="l" indent="0" marL="0">
              <a:lnSpc>
                <a:spcPts val="2041"/>
              </a:lnSpc>
              <a:buNone/>
            </a:pPr>
            <a:r>
              <a:rPr lang="en-US" sz="151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organizer for local players.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731007" y="4820059"/>
            <a:ext cx="366712" cy="142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514350"/>
            <a:ext cx="4114800" cy="41148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265988" y="4690170"/>
            <a:ext cx="2476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08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346" y="461963"/>
            <a:ext cx="4424362" cy="4219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37339" y="4690170"/>
            <a:ext cx="28487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2781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FRICTION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400329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game is easy.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40551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Getting the game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731490" y="1916088"/>
            <a:ext cx="345314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together is not.</a:t>
            </a:r>
            <a:endParaRPr lang="en-US" sz="3100" dirty="0"/>
          </a:p>
        </p:txBody>
      </p:sp>
      <p:sp>
        <p:nvSpPr>
          <p:cNvPr id="20" name="Shape 17"/>
          <p:cNvSpPr/>
          <p:nvPr/>
        </p:nvSpPr>
        <p:spPr>
          <a:xfrm>
            <a:off x="731490" y="2690180"/>
            <a:ext cx="457200" cy="19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Shape 18"/>
          <p:cNvSpPr/>
          <p:nvPr/>
        </p:nvSpPr>
        <p:spPr>
          <a:xfrm>
            <a:off x="5120953" y="874849"/>
            <a:ext cx="3290887" cy="3014663"/>
          </a:xfrm>
          <a:prstGeom prst="roundRect">
            <a:avLst>
              <a:gd name="adj" fmla="val 333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00601" y="147101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0"/>
          <p:cNvSpPr/>
          <p:nvPr/>
        </p:nvSpPr>
        <p:spPr>
          <a:xfrm>
            <a:off x="5554935" y="1415355"/>
            <a:ext cx="3356603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Players coordinate across noisy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chats</a:t>
            </a:r>
            <a:endParaRPr lang="en-US" sz="1370" dirty="0"/>
          </a:p>
        </p:txBody>
      </p:sp>
      <p:sp>
        <p:nvSpPr>
          <p:cNvPr id="24" name="Shape 21"/>
          <p:cNvSpPr/>
          <p:nvPr/>
        </p:nvSpPr>
        <p:spPr>
          <a:xfrm>
            <a:off x="5400601" y="2048098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5554935" y="1992437"/>
            <a:ext cx="2663183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Availability gets buried in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message threads</a:t>
            </a:r>
            <a:endParaRPr lang="en-US" sz="1370" dirty="0"/>
          </a:p>
        </p:txBody>
      </p:sp>
      <p:sp>
        <p:nvSpPr>
          <p:cNvPr id="26" name="Shape 23"/>
          <p:cNvSpPr/>
          <p:nvPr/>
        </p:nvSpPr>
        <p:spPr>
          <a:xfrm>
            <a:off x="5400601" y="2625179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4"/>
          <p:cNvSpPr/>
          <p:nvPr/>
        </p:nvSpPr>
        <p:spPr>
          <a:xfrm>
            <a:off x="5554935" y="2569518"/>
            <a:ext cx="3271473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Spreadsheets track names but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momentum</a:t>
            </a:r>
            <a:endParaRPr lang="en-US" sz="1370" dirty="0"/>
          </a:p>
        </p:txBody>
      </p:sp>
      <p:sp>
        <p:nvSpPr>
          <p:cNvPr id="28" name="Shape 25"/>
          <p:cNvSpPr/>
          <p:nvPr/>
        </p:nvSpPr>
        <p:spPr>
          <a:xfrm>
            <a:off x="5400601" y="3202260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5554935" y="3146599"/>
            <a:ext cx="3171252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Someone still has to make fair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teams</a:t>
            </a:r>
            <a:endParaRPr lang="en-US" sz="13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33246" y="4690170"/>
            <a:ext cx="2901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33012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IT IS FOR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400823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PickUp is for</a:t>
            </a:r>
            <a:endParaRPr lang="en-US" sz="3100" dirty="0"/>
          </a:p>
        </p:txBody>
      </p:sp>
      <p:sp>
        <p:nvSpPr>
          <p:cNvPr id="18" name="Shape 15"/>
          <p:cNvSpPr/>
          <p:nvPr/>
        </p:nvSpPr>
        <p:spPr>
          <a:xfrm>
            <a:off x="731974" y="1924831"/>
            <a:ext cx="3748087" cy="1176338"/>
          </a:xfrm>
          <a:prstGeom prst="roundRect">
            <a:avLst>
              <a:gd name="adj" fmla="val 8551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3885" y="2157152"/>
            <a:ext cx="276225" cy="190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7"/>
          <p:cNvSpPr/>
          <p:nvPr/>
        </p:nvSpPr>
        <p:spPr>
          <a:xfrm>
            <a:off x="964853" y="2292772"/>
            <a:ext cx="4300478" cy="5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Recreational players in one city or</a:t>
            </a:r>
            <a:endParaRPr lang="en-US" sz="1550" dirty="0"/>
          </a:p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neighborhood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4663901" y="1924831"/>
            <a:ext cx="3748087" cy="1176338"/>
          </a:xfrm>
          <a:prstGeom prst="roundRect">
            <a:avLst>
              <a:gd name="adj" fmla="val 8551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95776" y="2157152"/>
            <a:ext cx="276225" cy="19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4896743" y="2292772"/>
            <a:ext cx="4034738" cy="5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who play casually one to</a:t>
            </a:r>
            <a:endParaRPr lang="en-US" sz="1550" dirty="0"/>
          </a:p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times a week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731974" y="3284972"/>
            <a:ext cx="3748087" cy="1176338"/>
          </a:xfrm>
          <a:prstGeom prst="roundRect">
            <a:avLst>
              <a:gd name="adj" fmla="val 8551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63885" y="3517292"/>
            <a:ext cx="276225" cy="190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964853" y="3652912"/>
            <a:ext cx="3961604" cy="5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 that want a game, not a</a:t>
            </a:r>
            <a:endParaRPr lang="en-US" sz="1550" dirty="0"/>
          </a:p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league-management system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4663901" y="3284972"/>
            <a:ext cx="3748087" cy="1176338"/>
          </a:xfrm>
          <a:prstGeom prst="roundRect">
            <a:avLst>
              <a:gd name="adj" fmla="val 8551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95776" y="3517292"/>
            <a:ext cx="276225" cy="190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4896743" y="3652912"/>
            <a:ext cx="4258687" cy="55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Hosts who want less coordination</a:t>
            </a:r>
            <a:endParaRPr lang="en-US" sz="1550" dirty="0"/>
          </a:p>
          <a:p>
            <a:pPr algn="l" indent="0" marL="0">
              <a:lnSpc>
                <a:spcPts val="2322"/>
              </a:lnSpc>
              <a:buNone/>
            </a:pPr>
            <a:r>
              <a:rPr lang="en-US" sz="15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overhead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955" y="-1417260"/>
            <a:ext cx="448056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226772" y="4690170"/>
            <a:ext cx="2986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0411" y="1410630"/>
            <a:ext cx="52388" cy="5238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1"/>
          <p:cNvSpPr/>
          <p:nvPr/>
        </p:nvSpPr>
        <p:spPr>
          <a:xfrm>
            <a:off x="845716" y="1357238"/>
            <a:ext cx="206253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PRODUCT INSIGHT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731490" y="1566862"/>
            <a:ext cx="80194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60" b="1" spc="-173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missing layer is not another</a:t>
            </a:r>
            <a:endParaRPr lang="en-US" sz="3460" dirty="0"/>
          </a:p>
        </p:txBody>
      </p:sp>
      <p:sp>
        <p:nvSpPr>
          <p:cNvPr id="17" name="Text 13"/>
          <p:cNvSpPr/>
          <p:nvPr/>
        </p:nvSpPr>
        <p:spPr>
          <a:xfrm>
            <a:off x="731490" y="2023244"/>
            <a:ext cx="493295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60" b="1" spc="-173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court marketplace.</a:t>
            </a:r>
            <a:endParaRPr lang="en-US" sz="3460" dirty="0"/>
          </a:p>
        </p:txBody>
      </p:sp>
      <p:sp>
        <p:nvSpPr>
          <p:cNvPr id="18" name="Text 14"/>
          <p:cNvSpPr/>
          <p:nvPr/>
        </p:nvSpPr>
        <p:spPr>
          <a:xfrm>
            <a:off x="731490" y="2747218"/>
            <a:ext cx="7033334" cy="560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5"/>
              </a:lnSpc>
              <a:buNone/>
            </a:pPr>
            <a:r>
              <a:rPr lang="en-US" sz="166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 simple coordination loop: discover a game, fill the</a:t>
            </a:r>
            <a:endParaRPr lang="en-US" sz="1660" dirty="0"/>
          </a:p>
          <a:p>
            <a:pPr algn="l" indent="0" marL="0">
              <a:lnSpc>
                <a:spcPts val="2235"/>
              </a:lnSpc>
              <a:buNone/>
            </a:pPr>
            <a:r>
              <a:rPr lang="en-US" sz="166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spots, and show up with balanced teams.</a:t>
            </a:r>
            <a:endParaRPr lang="en-US" sz="1660" dirty="0"/>
          </a:p>
        </p:txBody>
      </p:sp>
      <p:sp>
        <p:nvSpPr>
          <p:cNvPr id="19" name="Shape 15"/>
          <p:cNvSpPr/>
          <p:nvPr/>
        </p:nvSpPr>
        <p:spPr>
          <a:xfrm>
            <a:off x="731490" y="3571615"/>
            <a:ext cx="457200" cy="19050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30791" y="4690170"/>
            <a:ext cx="2933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2894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PRODUCT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294362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PickUp</a:t>
            </a:r>
            <a:endParaRPr lang="en-US" sz="3100" dirty="0"/>
          </a:p>
        </p:txBody>
      </p:sp>
      <p:sp>
        <p:nvSpPr>
          <p:cNvPr id="18" name="Shape 15"/>
          <p:cNvSpPr/>
          <p:nvPr/>
        </p:nvSpPr>
        <p:spPr>
          <a:xfrm>
            <a:off x="731490" y="1924571"/>
            <a:ext cx="2438400" cy="1338262"/>
          </a:xfrm>
          <a:prstGeom prst="roundRect">
            <a:avLst>
              <a:gd name="adj" fmla="val 751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9088" y="2126233"/>
            <a:ext cx="3110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440" b="1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919088" y="2554858"/>
            <a:ext cx="2296254" cy="500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local feed of open</a:t>
            </a:r>
            <a:endParaRPr lang="en-US" sz="1400" dirty="0"/>
          </a:p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games nearby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52763" y="1924571"/>
            <a:ext cx="2438400" cy="1338262"/>
          </a:xfrm>
          <a:prstGeom prst="roundRect">
            <a:avLst>
              <a:gd name="adj" fmla="val 751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40323" y="2126233"/>
            <a:ext cx="36071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44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3540323" y="2554858"/>
            <a:ext cx="264702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One-tap join and leave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74073" y="1924571"/>
            <a:ext cx="2438400" cy="1338262"/>
          </a:xfrm>
          <a:prstGeom prst="roundRect">
            <a:avLst>
              <a:gd name="adj" fmla="val 751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161633" y="2126233"/>
            <a:ext cx="36787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440" b="1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6161633" y="2554858"/>
            <a:ext cx="2546516" cy="500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self-rated skill</a:t>
            </a:r>
            <a:endParaRPr lang="en-US" sz="1400" dirty="0"/>
          </a:p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levels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31490" y="3446115"/>
            <a:ext cx="2438400" cy="1338262"/>
          </a:xfrm>
          <a:prstGeom prst="roundRect">
            <a:avLst>
              <a:gd name="adj" fmla="val 751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19088" y="3647777"/>
            <a:ext cx="3789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44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919088" y="4076402"/>
            <a:ext cx="1902916" cy="500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team</a:t>
            </a:r>
            <a:endParaRPr lang="en-US" sz="1400" dirty="0"/>
          </a:p>
          <a:p>
            <a:pPr algn="l" indent="0" marL="0">
              <a:lnSpc>
                <a:spcPts val="2106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balancing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3353730" y="3446115"/>
            <a:ext cx="5057775" cy="1338262"/>
          </a:xfrm>
          <a:prstGeom prst="roundRect">
            <a:avLst>
              <a:gd name="adj" fmla="val 751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540323" y="3647777"/>
            <a:ext cx="37213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44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440" dirty="0"/>
          </a:p>
        </p:txBody>
      </p:sp>
      <p:sp>
        <p:nvSpPr>
          <p:cNvPr id="32" name="Text 29"/>
          <p:cNvSpPr/>
          <p:nvPr/>
        </p:nvSpPr>
        <p:spPr>
          <a:xfrm>
            <a:off x="3540323" y="4076402"/>
            <a:ext cx="541577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Reminders when a game fills or is about to start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29005" y="4690170"/>
            <a:ext cx="2957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06351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372401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feed for the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427281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games around you</a:t>
            </a:r>
            <a:endParaRPr lang="en-US" sz="3100" dirty="0"/>
          </a:p>
        </p:txBody>
      </p:sp>
      <p:sp>
        <p:nvSpPr>
          <p:cNvPr id="19" name="Shape 16"/>
          <p:cNvSpPr/>
          <p:nvPr/>
        </p:nvSpPr>
        <p:spPr>
          <a:xfrm>
            <a:off x="732532" y="229083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7"/>
          <p:cNvSpPr/>
          <p:nvPr/>
        </p:nvSpPr>
        <p:spPr>
          <a:xfrm>
            <a:off x="886867" y="2235175"/>
            <a:ext cx="341145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games by neighborhood</a:t>
            </a:r>
            <a:endParaRPr lang="en-US" sz="1370" dirty="0"/>
          </a:p>
        </p:txBody>
      </p:sp>
      <p:sp>
        <p:nvSpPr>
          <p:cNvPr id="21" name="Shape 18"/>
          <p:cNvSpPr/>
          <p:nvPr/>
        </p:nvSpPr>
        <p:spPr>
          <a:xfrm>
            <a:off x="732532" y="2633365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886867" y="2577703"/>
            <a:ext cx="3934420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by basketball, soccer, volleyball,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pickleball</a:t>
            </a:r>
            <a:endParaRPr lang="en-US" sz="1370" dirty="0"/>
          </a:p>
        </p:txBody>
      </p:sp>
      <p:sp>
        <p:nvSpPr>
          <p:cNvPr id="23" name="Shape 20"/>
          <p:cNvSpPr/>
          <p:nvPr/>
        </p:nvSpPr>
        <p:spPr>
          <a:xfrm>
            <a:off x="732532" y="3210446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886867" y="3154784"/>
            <a:ext cx="4009102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time, location, distance, and open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spots</a:t>
            </a:r>
            <a:endParaRPr lang="en-US" sz="1370" dirty="0"/>
          </a:p>
        </p:txBody>
      </p:sp>
      <p:sp>
        <p:nvSpPr>
          <p:cNvPr id="25" name="Shape 22"/>
          <p:cNvSpPr/>
          <p:nvPr/>
        </p:nvSpPr>
        <p:spPr>
          <a:xfrm>
            <a:off x="732532" y="378752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3"/>
          <p:cNvSpPr/>
          <p:nvPr/>
        </p:nvSpPr>
        <p:spPr>
          <a:xfrm>
            <a:off x="886867" y="3731865"/>
            <a:ext cx="3015697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from the feed without a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 thread</a:t>
            </a:r>
            <a:endParaRPr lang="en-US" sz="1370" dirty="0"/>
          </a:p>
        </p:txBody>
      </p:sp>
      <p:sp>
        <p:nvSpPr>
          <p:cNvPr id="27" name="Shape 24"/>
          <p:cNvSpPr/>
          <p:nvPr/>
        </p:nvSpPr>
        <p:spPr>
          <a:xfrm>
            <a:off x="4662822" y="874365"/>
            <a:ext cx="2652713" cy="2828925"/>
          </a:xfrm>
          <a:prstGeom prst="roundRect">
            <a:avLst>
              <a:gd name="adj" fmla="val 3792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15222" y="1025575"/>
            <a:ext cx="2347912" cy="309562"/>
          </a:xfrm>
          <a:prstGeom prst="rect">
            <a:avLst/>
          </a:prstGeom>
          <a:ln/>
        </p:spPr>
      </p:sp>
      <p:sp>
        <p:nvSpPr>
          <p:cNvPr id="29" name="Text 26"/>
          <p:cNvSpPr/>
          <p:nvPr/>
        </p:nvSpPr>
        <p:spPr>
          <a:xfrm>
            <a:off x="4814367" y="1039713"/>
            <a:ext cx="16549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Games near you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7054379" y="1025500"/>
            <a:ext cx="109537" cy="109537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1" name="Shape 28"/>
          <p:cNvSpPr/>
          <p:nvPr/>
        </p:nvSpPr>
        <p:spPr>
          <a:xfrm>
            <a:off x="4815222" y="1437084"/>
            <a:ext cx="2347912" cy="1266825"/>
          </a:xfrm>
          <a:prstGeom prst="roundRect">
            <a:avLst>
              <a:gd name="adj" fmla="val 5774"/>
            </a:avLst>
          </a:prstGeom>
          <a:solidFill>
            <a:srgbClr val="4E45E2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924053" y="1552575"/>
            <a:ext cx="7983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BASKETBALL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924053" y="1724918"/>
            <a:ext cx="15438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1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Saturday Hoops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924053" y="1986260"/>
            <a:ext cx="13705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79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Sat, Sep 19 · 10:00 AM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4924053" y="2162845"/>
            <a:ext cx="12559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9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Dolores Park Courts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4924053" y="2447032"/>
            <a:ext cx="5445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79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10 in</a:t>
            </a:r>
            <a:endParaRPr lang="en-US" sz="790" dirty="0"/>
          </a:p>
        </p:txBody>
      </p:sp>
      <p:sp>
        <p:nvSpPr>
          <p:cNvPr id="37" name="Shape 34"/>
          <p:cNvSpPr/>
          <p:nvPr/>
        </p:nvSpPr>
        <p:spPr>
          <a:xfrm>
            <a:off x="4815222" y="2769245"/>
            <a:ext cx="2347912" cy="814388"/>
          </a:xfrm>
          <a:prstGeom prst="roundRect">
            <a:avLst>
              <a:gd name="adj" fmla="val 8982"/>
            </a:avLst>
          </a:prstGeom>
          <a:ln w="4763">
            <a:solidFill>
              <a:srgbClr val="000000">
                <a:alpha val="7843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28815" y="2888903"/>
            <a:ext cx="541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SOCCER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4928815" y="3061246"/>
            <a:ext cx="18025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15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Riverside 5-a-side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4928815" y="3322588"/>
            <a:ext cx="13597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79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Sun, Sep 20 · 4:30 PM</a:t>
            </a:r>
            <a:endParaRPr lang="en-US" sz="79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5222" y="1025575"/>
            <a:ext cx="2347912" cy="309562"/>
          </a:xfrm>
          <a:prstGeom prst="rect">
            <a:avLst/>
          </a:prstGeom>
        </p:spPr>
      </p:pic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4760" y="2387240"/>
            <a:ext cx="2128838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43218" y="4690170"/>
            <a:ext cx="27723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28185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 A GAME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388730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game in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201203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seconds</a:t>
            </a:r>
            <a:endParaRPr lang="en-US" sz="3100" dirty="0"/>
          </a:p>
        </p:txBody>
      </p:sp>
      <p:sp>
        <p:nvSpPr>
          <p:cNvPr id="19" name="Shape 16"/>
          <p:cNvSpPr/>
          <p:nvPr/>
        </p:nvSpPr>
        <p:spPr>
          <a:xfrm>
            <a:off x="732532" y="229083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7"/>
          <p:cNvSpPr/>
          <p:nvPr/>
        </p:nvSpPr>
        <p:spPr>
          <a:xfrm>
            <a:off x="886867" y="2235175"/>
            <a:ext cx="16618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a sport</a:t>
            </a:r>
            <a:endParaRPr lang="en-US" sz="1370" dirty="0"/>
          </a:p>
        </p:txBody>
      </p:sp>
      <p:sp>
        <p:nvSpPr>
          <p:cNvPr id="21" name="Shape 18"/>
          <p:cNvSpPr/>
          <p:nvPr/>
        </p:nvSpPr>
        <p:spPr>
          <a:xfrm>
            <a:off x="732532" y="2633365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886867" y="2577703"/>
            <a:ext cx="269191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 court, park, or field</a:t>
            </a:r>
            <a:endParaRPr lang="en-US" sz="1370" dirty="0"/>
          </a:p>
        </p:txBody>
      </p:sp>
      <p:sp>
        <p:nvSpPr>
          <p:cNvPr id="23" name="Shape 20"/>
          <p:cNvSpPr/>
          <p:nvPr/>
        </p:nvSpPr>
        <p:spPr>
          <a:xfrm>
            <a:off x="732532" y="2975893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886867" y="2920231"/>
            <a:ext cx="288065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the date and start time</a:t>
            </a:r>
            <a:endParaRPr lang="en-US" sz="1370" dirty="0"/>
          </a:p>
        </p:txBody>
      </p:sp>
      <p:sp>
        <p:nvSpPr>
          <p:cNvPr id="25" name="Shape 22"/>
          <p:cNvSpPr/>
          <p:nvPr/>
        </p:nvSpPr>
        <p:spPr>
          <a:xfrm>
            <a:off x="732532" y="3318421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3"/>
          <p:cNvSpPr/>
          <p:nvPr/>
        </p:nvSpPr>
        <p:spPr>
          <a:xfrm>
            <a:off x="886867" y="3262759"/>
            <a:ext cx="247135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the player limit</a:t>
            </a:r>
            <a:endParaRPr lang="en-US" sz="1370" dirty="0"/>
          </a:p>
        </p:txBody>
      </p:sp>
      <p:sp>
        <p:nvSpPr>
          <p:cNvPr id="27" name="Shape 24"/>
          <p:cNvSpPr/>
          <p:nvPr/>
        </p:nvSpPr>
        <p:spPr>
          <a:xfrm>
            <a:off x="732532" y="3660949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5"/>
          <p:cNvSpPr/>
          <p:nvPr/>
        </p:nvSpPr>
        <p:spPr>
          <a:xfrm>
            <a:off x="886867" y="3605287"/>
            <a:ext cx="298290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first player is already in</a:t>
            </a:r>
            <a:endParaRPr lang="en-US" sz="1370" dirty="0"/>
          </a:p>
        </p:txBody>
      </p:sp>
      <p:sp>
        <p:nvSpPr>
          <p:cNvPr id="29" name="Shape 26"/>
          <p:cNvSpPr/>
          <p:nvPr/>
        </p:nvSpPr>
        <p:spPr>
          <a:xfrm>
            <a:off x="5119613" y="873584"/>
            <a:ext cx="2562225" cy="2962275"/>
          </a:xfrm>
          <a:prstGeom prst="roundRect">
            <a:avLst>
              <a:gd name="adj" fmla="val 392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308178" y="1076251"/>
            <a:ext cx="10859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game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5307732" y="1479575"/>
            <a:ext cx="2185988" cy="295275"/>
          </a:xfrm>
          <a:prstGeom prst="roundRect">
            <a:avLst>
              <a:gd name="adj" fmla="val 21677"/>
            </a:avLst>
          </a:prstGeom>
          <a:solidFill>
            <a:srgbClr val="4E45E2">
              <a:alpha val="1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399559" y="1551012"/>
            <a:ext cx="752021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Basketball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307732" y="1846362"/>
            <a:ext cx="2185988" cy="304800"/>
          </a:xfrm>
          <a:prstGeom prst="roundRect">
            <a:avLst>
              <a:gd name="adj" fmla="val 21000"/>
            </a:avLst>
          </a:prstGeom>
          <a:ln w="4763">
            <a:solidFill>
              <a:srgbClr val="000000">
                <a:alpha val="10196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04321" y="1922562"/>
            <a:ext cx="1420096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567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Dolores Park Courts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307732" y="2222674"/>
            <a:ext cx="1047750" cy="304800"/>
          </a:xfrm>
          <a:prstGeom prst="roundRect">
            <a:avLst>
              <a:gd name="adj" fmla="val 21000"/>
            </a:avLst>
          </a:prstGeom>
          <a:ln w="4763">
            <a:solidFill>
              <a:srgbClr val="000000">
                <a:alpha val="1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04321" y="2298874"/>
            <a:ext cx="50001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 19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45969" y="2222674"/>
            <a:ext cx="1047750" cy="304800"/>
          </a:xfrm>
          <a:prstGeom prst="roundRect">
            <a:avLst>
              <a:gd name="adj" fmla="val 21000"/>
            </a:avLst>
          </a:prstGeom>
          <a:ln w="4763">
            <a:solidFill>
              <a:srgbClr val="000000">
                <a:alpha val="10196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42559" y="2298874"/>
            <a:ext cx="739058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players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307732" y="2598986"/>
            <a:ext cx="2185988" cy="295275"/>
          </a:xfrm>
          <a:prstGeom prst="roundRect">
            <a:avLst>
              <a:gd name="adj" fmla="val 21677"/>
            </a:avLst>
          </a:prstGeom>
          <a:solidFill>
            <a:srgbClr val="111827"/>
          </a:solidFill>
          <a:ln/>
        </p:spPr>
      </p:sp>
      <p:sp>
        <p:nvSpPr>
          <p:cNvPr id="40" name="Text 37"/>
          <p:cNvSpPr/>
          <p:nvPr/>
        </p:nvSpPr>
        <p:spPr>
          <a:xfrm>
            <a:off x="5903744" y="2670423"/>
            <a:ext cx="99396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game</a:t>
            </a:r>
            <a:endParaRPr lang="en-US" sz="9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7732" y="1062298"/>
            <a:ext cx="2185988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720030"/>
            <a:ext cx="2286000" cy="2286000"/>
          </a:xfrm>
          <a:prstGeom prst="ellipse">
            <a:avLst/>
          </a:prstGeom>
          <a:solidFill>
            <a:srgbClr val="4E45E2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229228" y="4690170"/>
            <a:ext cx="2954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08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845716" y="883890"/>
            <a:ext cx="13890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PARTICIPATION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731490" y="1188765"/>
            <a:ext cx="393664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with one tap</a:t>
            </a:r>
            <a:endParaRPr lang="en-US" sz="3100" dirty="0"/>
          </a:p>
        </p:txBody>
      </p:sp>
      <p:sp>
        <p:nvSpPr>
          <p:cNvPr id="17" name="Shape 14"/>
          <p:cNvSpPr/>
          <p:nvPr/>
        </p:nvSpPr>
        <p:spPr>
          <a:xfrm>
            <a:off x="732532" y="2157710"/>
            <a:ext cx="290513" cy="29051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5"/>
          <p:cNvSpPr/>
          <p:nvPr/>
        </p:nvSpPr>
        <p:spPr>
          <a:xfrm>
            <a:off x="837084" y="2250579"/>
            <a:ext cx="16298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31490" y="2592139"/>
            <a:ext cx="2257462" cy="46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exactly how many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players are in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698477" y="2157710"/>
            <a:ext cx="290513" cy="290513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2795067" y="2250579"/>
            <a:ext cx="1836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697435" y="2592139"/>
            <a:ext cx="2106841" cy="46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or leave without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messaging the host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4422" y="2157710"/>
            <a:ext cx="290513" cy="29051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4759821" y="2250579"/>
            <a:ext cx="18668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663380" y="2592139"/>
            <a:ext cx="1532989" cy="46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immediate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30367" y="2157710"/>
            <a:ext cx="290513" cy="290513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6723980" y="2250579"/>
            <a:ext cx="1913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629326" y="2592139"/>
            <a:ext cx="2168076" cy="46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when the game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B8BA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full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29005" y="4690170"/>
            <a:ext cx="2957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49990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BALANCED PLAY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429486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 teams without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38366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spreadsheet</a:t>
            </a:r>
            <a:endParaRPr lang="en-US" sz="3100" dirty="0"/>
          </a:p>
        </p:txBody>
      </p:sp>
      <p:sp>
        <p:nvSpPr>
          <p:cNvPr id="19" name="Shape 16"/>
          <p:cNvSpPr/>
          <p:nvPr/>
        </p:nvSpPr>
        <p:spPr>
          <a:xfrm>
            <a:off x="732532" y="229083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7"/>
          <p:cNvSpPr/>
          <p:nvPr/>
        </p:nvSpPr>
        <p:spPr>
          <a:xfrm>
            <a:off x="886867" y="2235175"/>
            <a:ext cx="4429140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player chooses a skill level from one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five</a:t>
            </a:r>
            <a:endParaRPr lang="en-US" sz="1370" dirty="0"/>
          </a:p>
        </p:txBody>
      </p:sp>
      <p:sp>
        <p:nvSpPr>
          <p:cNvPr id="21" name="Shape 18"/>
          <p:cNvSpPr/>
          <p:nvPr/>
        </p:nvSpPr>
        <p:spPr>
          <a:xfrm>
            <a:off x="732532" y="2867918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886867" y="2812256"/>
            <a:ext cx="404779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 sorts players by self-rated skill</a:t>
            </a:r>
            <a:endParaRPr lang="en-US" sz="1370" dirty="0"/>
          </a:p>
        </p:txBody>
      </p:sp>
      <p:sp>
        <p:nvSpPr>
          <p:cNvPr id="23" name="Shape 20"/>
          <p:cNvSpPr/>
          <p:nvPr/>
        </p:nvSpPr>
        <p:spPr>
          <a:xfrm>
            <a:off x="732532" y="3210446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886867" y="3154784"/>
            <a:ext cx="4309862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simple snake draft distributes stronger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newer players</a:t>
            </a:r>
            <a:endParaRPr lang="en-US" sz="1370" dirty="0"/>
          </a:p>
        </p:txBody>
      </p:sp>
      <p:sp>
        <p:nvSpPr>
          <p:cNvPr id="25" name="Shape 22"/>
          <p:cNvSpPr/>
          <p:nvPr/>
        </p:nvSpPr>
        <p:spPr>
          <a:xfrm>
            <a:off x="732532" y="378752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3"/>
          <p:cNvSpPr/>
          <p:nvPr/>
        </p:nvSpPr>
        <p:spPr>
          <a:xfrm>
            <a:off x="886867" y="3731865"/>
            <a:ext cx="423043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Teams are ready before the game starts</a:t>
            </a:r>
            <a:endParaRPr lang="en-US" sz="1370" dirty="0"/>
          </a:p>
        </p:txBody>
      </p:sp>
      <p:sp>
        <p:nvSpPr>
          <p:cNvPr id="27" name="Shape 24"/>
          <p:cNvSpPr/>
          <p:nvPr/>
        </p:nvSpPr>
        <p:spPr>
          <a:xfrm>
            <a:off x="4938117" y="874961"/>
            <a:ext cx="2833687" cy="3086100"/>
          </a:xfrm>
          <a:prstGeom prst="roundRect">
            <a:avLst>
              <a:gd name="adj" fmla="val 3550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125269" y="1076251"/>
            <a:ext cx="16477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Balanced teams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6823844" y="1076251"/>
            <a:ext cx="10462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players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5124338" y="1397124"/>
            <a:ext cx="1185863" cy="990600"/>
          </a:xfrm>
          <a:prstGeom prst="roundRect">
            <a:avLst>
              <a:gd name="adj" fmla="val 6462"/>
            </a:avLst>
          </a:prstGeom>
          <a:ln w="4763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02920" y="1475445"/>
            <a:ext cx="1028700" cy="247650"/>
          </a:xfrm>
          <a:prstGeom prst="rect">
            <a:avLst/>
          </a:prstGeom>
          <a:solidFill>
            <a:srgbClr val="5143E4">
              <a:alpha val="14902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258023" y="1535460"/>
            <a:ext cx="68062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Lime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5203180" y="1778868"/>
            <a:ext cx="64880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Jordan · 4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5203180" y="1970856"/>
            <a:ext cx="5485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Maya · 3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5203180" y="2162845"/>
            <a:ext cx="4457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Leo · 2</a:t>
            </a:r>
            <a:endParaRPr lang="en-US" sz="790" dirty="0"/>
          </a:p>
        </p:txBody>
      </p:sp>
      <p:sp>
        <p:nvSpPr>
          <p:cNvPr id="36" name="Shape 33"/>
          <p:cNvSpPr/>
          <p:nvPr/>
        </p:nvSpPr>
        <p:spPr>
          <a:xfrm>
            <a:off x="6399721" y="1397124"/>
            <a:ext cx="1185863" cy="990600"/>
          </a:xfrm>
          <a:prstGeom prst="roundRect">
            <a:avLst>
              <a:gd name="adj" fmla="val 6462"/>
            </a:avLst>
          </a:prstGeom>
          <a:ln w="4763">
            <a:solidFill>
              <a:srgbClr val="F87417">
                <a:alpha val="3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78302" y="1475445"/>
            <a:ext cx="1028700" cy="247650"/>
          </a:xfrm>
          <a:prstGeom prst="rect">
            <a:avLst/>
          </a:prstGeom>
          <a:solidFill>
            <a:srgbClr val="F87214">
              <a:alpha val="14902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533406" y="1535460"/>
            <a:ext cx="70839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Coral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6478563" y="1778868"/>
            <a:ext cx="49527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 · 4</a:t>
            </a:r>
            <a:endParaRPr lang="en-US" sz="790" dirty="0"/>
          </a:p>
        </p:txBody>
      </p:sp>
      <p:sp>
        <p:nvSpPr>
          <p:cNvPr id="40" name="Text 37"/>
          <p:cNvSpPr/>
          <p:nvPr/>
        </p:nvSpPr>
        <p:spPr>
          <a:xfrm>
            <a:off x="6478563" y="1970856"/>
            <a:ext cx="49759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79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Nina · 3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6478563" y="2162845"/>
            <a:ext cx="45832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 · 2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5125269" y="2581126"/>
            <a:ext cx="3093958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skill and new players alternate across the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draft.</a:t>
            </a:r>
            <a:endParaRPr lang="en-US" sz="86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6236" y="2490490"/>
            <a:ext cx="24574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1153" y="-1784047"/>
            <a:ext cx="4756785" cy="47567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265988" y="4690170"/>
            <a:ext cx="2476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0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0411" y="1178235"/>
            <a:ext cx="52388" cy="5238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1"/>
          <p:cNvSpPr/>
          <p:nvPr/>
        </p:nvSpPr>
        <p:spPr>
          <a:xfrm>
            <a:off x="845716" y="1124843"/>
            <a:ext cx="19173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DIFFERENTIATOR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731490" y="1339230"/>
            <a:ext cx="7857738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66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differentiator is deliberately</a:t>
            </a:r>
            <a:endParaRPr lang="en-US" sz="3310" dirty="0"/>
          </a:p>
        </p:txBody>
      </p:sp>
      <p:sp>
        <p:nvSpPr>
          <p:cNvPr id="17" name="Text 13"/>
          <p:cNvSpPr/>
          <p:nvPr/>
        </p:nvSpPr>
        <p:spPr>
          <a:xfrm>
            <a:off x="731490" y="1780803"/>
            <a:ext cx="1692027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66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</a:t>
            </a:r>
            <a:endParaRPr lang="en-US" sz="3310" dirty="0"/>
          </a:p>
        </p:txBody>
      </p:sp>
      <p:sp>
        <p:nvSpPr>
          <p:cNvPr id="18" name="Text 14"/>
          <p:cNvSpPr/>
          <p:nvPr/>
        </p:nvSpPr>
        <p:spPr>
          <a:xfrm>
            <a:off x="731490" y="2504256"/>
            <a:ext cx="7246642" cy="575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black-box matching. No rankings. No machine-learning</a:t>
            </a:r>
            <a:endParaRPr lang="en-US" sz="162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theater.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731490" y="3224287"/>
            <a:ext cx="7807918" cy="575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 a transparent team split that makes casual games feel fair</a:t>
            </a:r>
            <a:endParaRPr lang="en-US" sz="162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enough to keep coming back.</a:t>
            </a:r>
            <a:endParaRPr lang="en-US" sz="1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12646" y="4690170"/>
            <a:ext cx="1869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34251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 DETAILS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440940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game detail page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389292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answers the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731490" y="1916088"/>
            <a:ext cx="237790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</a:t>
            </a:r>
            <a:endParaRPr lang="en-US" sz="3100" dirty="0"/>
          </a:p>
        </p:txBody>
      </p:sp>
      <p:sp>
        <p:nvSpPr>
          <p:cNvPr id="20" name="Text 17"/>
          <p:cNvSpPr/>
          <p:nvPr/>
        </p:nvSpPr>
        <p:spPr>
          <a:xfrm>
            <a:off x="731490" y="2324993"/>
            <a:ext cx="232363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</a:t>
            </a:r>
            <a:endParaRPr lang="en-US" sz="3100" dirty="0"/>
          </a:p>
        </p:txBody>
      </p:sp>
      <p:sp>
        <p:nvSpPr>
          <p:cNvPr id="21" name="Shape 18"/>
          <p:cNvSpPr/>
          <p:nvPr/>
        </p:nvSpPr>
        <p:spPr>
          <a:xfrm>
            <a:off x="732532" y="310864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886867" y="3052986"/>
            <a:ext cx="121210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is it?</a:t>
            </a:r>
            <a:endParaRPr lang="en-US" sz="1370" dirty="0"/>
          </a:p>
        </p:txBody>
      </p:sp>
      <p:sp>
        <p:nvSpPr>
          <p:cNvPr id="23" name="Shape 20"/>
          <p:cNvSpPr/>
          <p:nvPr/>
        </p:nvSpPr>
        <p:spPr>
          <a:xfrm>
            <a:off x="732532" y="3451175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1"/>
          <p:cNvSpPr/>
          <p:nvPr/>
        </p:nvSpPr>
        <p:spPr>
          <a:xfrm>
            <a:off x="886867" y="3395514"/>
            <a:ext cx="128998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is it?</a:t>
            </a:r>
            <a:endParaRPr lang="en-US" sz="1370" dirty="0"/>
          </a:p>
        </p:txBody>
      </p:sp>
      <p:sp>
        <p:nvSpPr>
          <p:cNvPr id="25" name="Shape 22"/>
          <p:cNvSpPr/>
          <p:nvPr/>
        </p:nvSpPr>
        <p:spPr>
          <a:xfrm>
            <a:off x="732532" y="3793703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3"/>
          <p:cNvSpPr/>
          <p:nvPr/>
        </p:nvSpPr>
        <p:spPr>
          <a:xfrm>
            <a:off x="886867" y="3738042"/>
            <a:ext cx="112920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is in?</a:t>
            </a:r>
            <a:endParaRPr lang="en-US" sz="1370" dirty="0"/>
          </a:p>
        </p:txBody>
      </p:sp>
      <p:sp>
        <p:nvSpPr>
          <p:cNvPr id="27" name="Shape 24"/>
          <p:cNvSpPr/>
          <p:nvPr/>
        </p:nvSpPr>
        <p:spPr>
          <a:xfrm>
            <a:off x="732532" y="4136231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5"/>
          <p:cNvSpPr/>
          <p:nvPr/>
        </p:nvSpPr>
        <p:spPr>
          <a:xfrm>
            <a:off x="886867" y="4080570"/>
            <a:ext cx="270729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many spots are left?</a:t>
            </a:r>
            <a:endParaRPr lang="en-US" sz="1370" dirty="0"/>
          </a:p>
        </p:txBody>
      </p:sp>
      <p:sp>
        <p:nvSpPr>
          <p:cNvPr id="29" name="Shape 26"/>
          <p:cNvSpPr/>
          <p:nvPr/>
        </p:nvSpPr>
        <p:spPr>
          <a:xfrm>
            <a:off x="732532" y="4478759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7"/>
          <p:cNvSpPr/>
          <p:nvPr/>
        </p:nvSpPr>
        <p:spPr>
          <a:xfrm>
            <a:off x="886867" y="4423097"/>
            <a:ext cx="409723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do the balanced teams look like?</a:t>
            </a:r>
            <a:endParaRPr lang="en-US" sz="1370" dirty="0"/>
          </a:p>
        </p:txBody>
      </p:sp>
      <p:sp>
        <p:nvSpPr>
          <p:cNvPr id="31" name="Shape 28"/>
          <p:cNvSpPr/>
          <p:nvPr/>
        </p:nvSpPr>
        <p:spPr>
          <a:xfrm>
            <a:off x="4754761" y="875295"/>
            <a:ext cx="2743200" cy="3776662"/>
          </a:xfrm>
          <a:prstGeom prst="roundRect">
            <a:avLst>
              <a:gd name="adj" fmla="val 3667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942359" y="1066726"/>
            <a:ext cx="7983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BASKETBALL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942359" y="1325761"/>
            <a:ext cx="26583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0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Saturday Hoops</a:t>
            </a:r>
            <a:endParaRPr lang="en-US" sz="2020" dirty="0"/>
          </a:p>
        </p:txBody>
      </p:sp>
      <p:sp>
        <p:nvSpPr>
          <p:cNvPr id="34" name="Shape 31"/>
          <p:cNvSpPr/>
          <p:nvPr/>
        </p:nvSpPr>
        <p:spPr>
          <a:xfrm>
            <a:off x="4942880" y="1840185"/>
            <a:ext cx="2366963" cy="776287"/>
          </a:xfrm>
          <a:prstGeom prst="rect">
            <a:avLst/>
          </a:prstGeom>
          <a:ln/>
        </p:spPr>
      </p:sp>
      <p:sp>
        <p:nvSpPr>
          <p:cNvPr id="35" name="Text 32"/>
          <p:cNvSpPr/>
          <p:nvPr/>
        </p:nvSpPr>
        <p:spPr>
          <a:xfrm>
            <a:off x="4942359" y="1957388"/>
            <a:ext cx="205779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· Sat, Sep 19 · 10:00 AM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42359" y="2205930"/>
            <a:ext cx="197875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· Dolores Park Courts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942359" y="2454473"/>
            <a:ext cx="958557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 · Jordan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942880" y="2771403"/>
            <a:ext cx="2366963" cy="276225"/>
          </a:xfrm>
          <a:prstGeom prst="roundRect">
            <a:avLst>
              <a:gd name="adj" fmla="val 26483"/>
            </a:avLst>
          </a:prstGeom>
          <a:solidFill>
            <a:srgbClr val="111827"/>
          </a:solidFill>
          <a:ln/>
        </p:spPr>
      </p:sp>
      <p:sp>
        <p:nvSpPr>
          <p:cNvPr id="39" name="Text 36"/>
          <p:cNvSpPr/>
          <p:nvPr/>
        </p:nvSpPr>
        <p:spPr>
          <a:xfrm>
            <a:off x="5389479" y="2836738"/>
            <a:ext cx="14736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215"/>
              </a:spcBef>
              <a:buNone/>
            </a:pPr>
            <a:r>
              <a:rPr lang="en-US" sz="8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balanced teams</a:t>
            </a:r>
            <a:endParaRPr lang="en-US" sz="86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2880" y="1840185"/>
            <a:ext cx="2366963" cy="7762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83401" y="4690170"/>
            <a:ext cx="2249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7638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PROFILE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403589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personal profile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461381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improves every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731490" y="1916088"/>
            <a:ext cx="135576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</a:t>
            </a:r>
            <a:endParaRPr lang="en-US" sz="3100" dirty="0"/>
          </a:p>
        </p:txBody>
      </p:sp>
      <p:sp>
        <p:nvSpPr>
          <p:cNvPr id="20" name="Shape 17"/>
          <p:cNvSpPr/>
          <p:nvPr/>
        </p:nvSpPr>
        <p:spPr>
          <a:xfrm>
            <a:off x="732532" y="2699742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8"/>
          <p:cNvSpPr/>
          <p:nvPr/>
        </p:nvSpPr>
        <p:spPr>
          <a:xfrm>
            <a:off x="886867" y="2644080"/>
            <a:ext cx="210984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a neighborhood</a:t>
            </a:r>
            <a:endParaRPr lang="en-US" sz="1370" dirty="0"/>
          </a:p>
        </p:txBody>
      </p:sp>
      <p:sp>
        <p:nvSpPr>
          <p:cNvPr id="22" name="Shape 19"/>
          <p:cNvSpPr/>
          <p:nvPr/>
        </p:nvSpPr>
        <p:spPr>
          <a:xfrm>
            <a:off x="732532" y="3042270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0"/>
          <p:cNvSpPr/>
          <p:nvPr/>
        </p:nvSpPr>
        <p:spPr>
          <a:xfrm>
            <a:off x="886867" y="2986608"/>
            <a:ext cx="266144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a self-rated skill level</a:t>
            </a:r>
            <a:endParaRPr lang="en-US" sz="1370" dirty="0"/>
          </a:p>
        </p:txBody>
      </p:sp>
      <p:sp>
        <p:nvSpPr>
          <p:cNvPr id="24" name="Shape 21"/>
          <p:cNvSpPr/>
          <p:nvPr/>
        </p:nvSpPr>
        <p:spPr>
          <a:xfrm>
            <a:off x="732532" y="3384798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886867" y="3329136"/>
            <a:ext cx="440002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rating lightweight and pressure-free</a:t>
            </a:r>
            <a:endParaRPr lang="en-US" sz="1370" dirty="0"/>
          </a:p>
        </p:txBody>
      </p:sp>
      <p:sp>
        <p:nvSpPr>
          <p:cNvPr id="26" name="Shape 23"/>
          <p:cNvSpPr/>
          <p:nvPr/>
        </p:nvSpPr>
        <p:spPr>
          <a:xfrm>
            <a:off x="732532" y="3961879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4"/>
          <p:cNvSpPr/>
          <p:nvPr/>
        </p:nvSpPr>
        <p:spPr>
          <a:xfrm>
            <a:off x="886867" y="3906217"/>
            <a:ext cx="424640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whether game reminders are on</a:t>
            </a:r>
            <a:endParaRPr lang="en-US" sz="1370" dirty="0"/>
          </a:p>
        </p:txBody>
      </p:sp>
      <p:sp>
        <p:nvSpPr>
          <p:cNvPr id="28" name="Shape 25"/>
          <p:cNvSpPr/>
          <p:nvPr/>
        </p:nvSpPr>
        <p:spPr>
          <a:xfrm>
            <a:off x="5028158" y="874030"/>
            <a:ext cx="2562225" cy="3262312"/>
          </a:xfrm>
          <a:prstGeom prst="roundRect">
            <a:avLst>
              <a:gd name="adj" fmla="val 3926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216277" y="1062521"/>
            <a:ext cx="2185988" cy="490537"/>
          </a:xfrm>
          <a:prstGeom prst="rect">
            <a:avLst/>
          </a:prstGeom>
          <a:ln/>
        </p:spPr>
      </p:sp>
      <p:sp>
        <p:nvSpPr>
          <p:cNvPr id="30" name="Shape 27"/>
          <p:cNvSpPr/>
          <p:nvPr/>
        </p:nvSpPr>
        <p:spPr>
          <a:xfrm>
            <a:off x="5216240" y="1070632"/>
            <a:ext cx="366712" cy="366712"/>
          </a:xfrm>
          <a:prstGeom prst="roundRect">
            <a:avLst>
              <a:gd name="adj" fmla="val 24935"/>
            </a:avLst>
          </a:prstGeom>
          <a:solidFill>
            <a:srgbClr val="4F46E5"/>
          </a:solidFill>
          <a:ln/>
        </p:spPr>
      </p:sp>
      <p:sp>
        <p:nvSpPr>
          <p:cNvPr id="31" name="Text 28"/>
          <p:cNvSpPr/>
          <p:nvPr/>
        </p:nvSpPr>
        <p:spPr>
          <a:xfrm>
            <a:off x="5341218" y="1144786"/>
            <a:ext cx="2088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673849" y="1076251"/>
            <a:ext cx="4841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Alex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5673849" y="1299865"/>
            <a:ext cx="98748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Mission District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5216723" y="1691729"/>
            <a:ext cx="115512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760" b="1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SKILL LEVEL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5215756" y="2085231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5046E6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544889" y="1994260"/>
            <a:ext cx="276225" cy="366712"/>
          </a:xfrm>
          <a:prstGeom prst="roundRect">
            <a:avLst>
              <a:gd name="adj" fmla="val 23172"/>
            </a:avLst>
          </a:prstGeom>
          <a:solidFill>
            <a:srgbClr val="5045E5">
              <a:alpha val="34902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874023" y="1903288"/>
            <a:ext cx="276225" cy="457200"/>
          </a:xfrm>
          <a:prstGeom prst="roundRect">
            <a:avLst>
              <a:gd name="adj" fmla="val 23172"/>
            </a:avLst>
          </a:prstGeom>
          <a:solidFill>
            <a:srgbClr val="4F46E5"/>
          </a:solidFill>
          <a:ln/>
        </p:spPr>
      </p:sp>
      <p:sp>
        <p:nvSpPr>
          <p:cNvPr id="38" name="Shape 35"/>
          <p:cNvSpPr/>
          <p:nvPr/>
        </p:nvSpPr>
        <p:spPr>
          <a:xfrm>
            <a:off x="6203156" y="1994260"/>
            <a:ext cx="276225" cy="366712"/>
          </a:xfrm>
          <a:prstGeom prst="roundRect">
            <a:avLst>
              <a:gd name="adj" fmla="val 23172"/>
            </a:avLst>
          </a:prstGeom>
          <a:solidFill>
            <a:srgbClr val="000000">
              <a:alpha val="7843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532290" y="2085231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00000">
              <a:alpha val="7843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216723" y="2416671"/>
            <a:ext cx="9074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7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Comfortable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5216277" y="2703686"/>
            <a:ext cx="2185988" cy="271463"/>
          </a:xfrm>
          <a:prstGeom prst="rect">
            <a:avLst/>
          </a:prstGeom>
          <a:ln/>
        </p:spPr>
      </p:sp>
      <p:sp>
        <p:nvSpPr>
          <p:cNvPr id="42" name="Text 39"/>
          <p:cNvSpPr/>
          <p:nvPr/>
        </p:nvSpPr>
        <p:spPr>
          <a:xfrm>
            <a:off x="5216723" y="2820442"/>
            <a:ext cx="1222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Game reminders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7145238" y="2810433"/>
            <a:ext cx="257175" cy="138113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6277" y="1062521"/>
            <a:ext cx="2185988" cy="490537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277" y="2703686"/>
            <a:ext cx="2185988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79829" y="4690170"/>
            <a:ext cx="2296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64764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717650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MVP is intentionally narrow</a:t>
            </a:r>
            <a:endParaRPr lang="en-US" sz="3100" dirty="0"/>
          </a:p>
        </p:txBody>
      </p:sp>
      <p:sp>
        <p:nvSpPr>
          <p:cNvPr id="18" name="Shape 15"/>
          <p:cNvSpPr/>
          <p:nvPr/>
        </p:nvSpPr>
        <p:spPr>
          <a:xfrm>
            <a:off x="732458" y="1874007"/>
            <a:ext cx="3724275" cy="2533650"/>
          </a:xfrm>
          <a:prstGeom prst="roundRect">
            <a:avLst>
              <a:gd name="adj" fmla="val 3970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4853" y="2125340"/>
            <a:ext cx="13544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173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Included:</a:t>
            </a:r>
            <a:endParaRPr lang="en-US" sz="1730" dirty="0"/>
          </a:p>
        </p:txBody>
      </p:sp>
      <p:sp>
        <p:nvSpPr>
          <p:cNvPr id="20" name="Text 17"/>
          <p:cNvSpPr/>
          <p:nvPr/>
        </p:nvSpPr>
        <p:spPr>
          <a:xfrm>
            <a:off x="964853" y="2578298"/>
            <a:ext cx="97819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Games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964853" y="2915989"/>
            <a:ext cx="222205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Joining and leaving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964853" y="3253680"/>
            <a:ext cx="212154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Skill-based teams</a:t>
            </a:r>
            <a:endParaRPr lang="en-US" sz="1370" dirty="0"/>
          </a:p>
        </p:txBody>
      </p:sp>
      <p:sp>
        <p:nvSpPr>
          <p:cNvPr id="23" name="Text 20"/>
          <p:cNvSpPr/>
          <p:nvPr/>
        </p:nvSpPr>
        <p:spPr>
          <a:xfrm>
            <a:off x="964853" y="3591371"/>
            <a:ext cx="186915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Local discovery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964853" y="3929063"/>
            <a:ext cx="198408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Game reminders</a:t>
            </a:r>
            <a:endParaRPr lang="en-US" sz="1370" dirty="0"/>
          </a:p>
        </p:txBody>
      </p:sp>
      <p:sp>
        <p:nvSpPr>
          <p:cNvPr id="25" name="Shape 22"/>
          <p:cNvSpPr/>
          <p:nvPr/>
        </p:nvSpPr>
        <p:spPr>
          <a:xfrm>
            <a:off x="4687267" y="1874007"/>
            <a:ext cx="3724275" cy="2533650"/>
          </a:xfrm>
          <a:prstGeom prst="roundRect">
            <a:avLst>
              <a:gd name="adj" fmla="val 3970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19663" y="2125340"/>
            <a:ext cx="192207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173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included:</a:t>
            </a:r>
            <a:endParaRPr lang="en-US" sz="1730" dirty="0"/>
          </a:p>
        </p:txBody>
      </p:sp>
      <p:sp>
        <p:nvSpPr>
          <p:cNvPr id="27" name="Text 24"/>
          <p:cNvSpPr/>
          <p:nvPr/>
        </p:nvSpPr>
        <p:spPr>
          <a:xfrm>
            <a:off x="4919663" y="2578298"/>
            <a:ext cx="306783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 Payments or court booking</a:t>
            </a:r>
            <a:endParaRPr lang="en-US" sz="1370" dirty="0"/>
          </a:p>
        </p:txBody>
      </p:sp>
      <p:sp>
        <p:nvSpPr>
          <p:cNvPr id="28" name="Text 25"/>
          <p:cNvSpPr/>
          <p:nvPr/>
        </p:nvSpPr>
        <p:spPr>
          <a:xfrm>
            <a:off x="4919663" y="2915989"/>
            <a:ext cx="237016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 Chat and messaging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4919663" y="3253680"/>
            <a:ext cx="297477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 Leagues, rankings, or stats</a:t>
            </a:r>
            <a:endParaRPr lang="en-US" sz="13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73430" y="4690170"/>
            <a:ext cx="2379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2469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BUILDABILITY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407962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this can ship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731490" y="1507182"/>
            <a:ext cx="173401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quickly</a:t>
            </a:r>
            <a:endParaRPr lang="en-US" sz="3100" dirty="0"/>
          </a:p>
        </p:txBody>
      </p:sp>
      <p:sp>
        <p:nvSpPr>
          <p:cNvPr id="19" name="Shape 16"/>
          <p:cNvSpPr/>
          <p:nvPr/>
        </p:nvSpPr>
        <p:spPr>
          <a:xfrm>
            <a:off x="731490" y="2282130"/>
            <a:ext cx="2286000" cy="866775"/>
          </a:xfrm>
          <a:prstGeom prst="roundRect">
            <a:avLst>
              <a:gd name="adj" fmla="val 10549"/>
            </a:avLst>
          </a:prstGeom>
          <a:solidFill>
            <a:srgbClr val="4F46E5"/>
          </a:solidFill>
          <a:ln/>
        </p:spPr>
      </p:sp>
      <p:sp>
        <p:nvSpPr>
          <p:cNvPr id="20" name="Text 17"/>
          <p:cNvSpPr/>
          <p:nvPr/>
        </p:nvSpPr>
        <p:spPr>
          <a:xfrm>
            <a:off x="914326" y="2377976"/>
            <a:ext cx="2110420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surface</a:t>
            </a:r>
            <a:endParaRPr lang="en-US" sz="1870" dirty="0"/>
          </a:p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area.</a:t>
            </a:r>
            <a:endParaRPr lang="en-US" sz="1870" dirty="0"/>
          </a:p>
        </p:txBody>
      </p:sp>
      <p:sp>
        <p:nvSpPr>
          <p:cNvPr id="21" name="Shape 18"/>
          <p:cNvSpPr/>
          <p:nvPr/>
        </p:nvSpPr>
        <p:spPr>
          <a:xfrm>
            <a:off x="5211961" y="873621"/>
            <a:ext cx="2743200" cy="3033712"/>
          </a:xfrm>
          <a:prstGeom prst="roundRect">
            <a:avLst>
              <a:gd name="adj" fmla="val 3667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46365" y="1425327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0"/>
          <p:cNvSpPr/>
          <p:nvPr/>
        </p:nvSpPr>
        <p:spPr>
          <a:xfrm>
            <a:off x="5600700" y="1369665"/>
            <a:ext cx="255367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inventory to manage</a:t>
            </a:r>
            <a:endParaRPr lang="en-US" sz="1370" dirty="0"/>
          </a:p>
        </p:txBody>
      </p:sp>
      <p:sp>
        <p:nvSpPr>
          <p:cNvPr id="24" name="Shape 21"/>
          <p:cNvSpPr/>
          <p:nvPr/>
        </p:nvSpPr>
        <p:spPr>
          <a:xfrm>
            <a:off x="5446365" y="1767855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5600700" y="1712193"/>
            <a:ext cx="238283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regulated workflow</a:t>
            </a:r>
            <a:endParaRPr lang="en-US" sz="1370" dirty="0"/>
          </a:p>
        </p:txBody>
      </p:sp>
      <p:sp>
        <p:nvSpPr>
          <p:cNvPr id="26" name="Shape 23"/>
          <p:cNvSpPr/>
          <p:nvPr/>
        </p:nvSpPr>
        <p:spPr>
          <a:xfrm>
            <a:off x="5446365" y="2110383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4"/>
          <p:cNvSpPr/>
          <p:nvPr/>
        </p:nvSpPr>
        <p:spPr>
          <a:xfrm>
            <a:off x="5600700" y="2054721"/>
            <a:ext cx="261848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50"/>
              </a:spcAft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marketplace logistics</a:t>
            </a:r>
            <a:endParaRPr lang="en-US" sz="1370" dirty="0"/>
          </a:p>
        </p:txBody>
      </p:sp>
      <p:sp>
        <p:nvSpPr>
          <p:cNvPr id="28" name="Shape 25"/>
          <p:cNvSpPr/>
          <p:nvPr/>
        </p:nvSpPr>
        <p:spPr>
          <a:xfrm>
            <a:off x="5446365" y="2452911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5600700" y="2397249"/>
            <a:ext cx="2552417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small, understandable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model</a:t>
            </a:r>
            <a:endParaRPr lang="en-US" sz="1370" dirty="0"/>
          </a:p>
        </p:txBody>
      </p:sp>
      <p:sp>
        <p:nvSpPr>
          <p:cNvPr id="30" name="Shape 27"/>
          <p:cNvSpPr/>
          <p:nvPr/>
        </p:nvSpPr>
        <p:spPr>
          <a:xfrm>
            <a:off x="5446365" y="3029992"/>
            <a:ext cx="61912" cy="619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8"/>
          <p:cNvSpPr/>
          <p:nvPr/>
        </p:nvSpPr>
        <p:spPr>
          <a:xfrm>
            <a:off x="5600700" y="2974330"/>
            <a:ext cx="2767563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focused mobile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 for one launch</a:t>
            </a:r>
            <a:endParaRPr lang="en-US" sz="1370" dirty="0"/>
          </a:p>
          <a:p>
            <a:pPr algn="l" indent="0" marL="0">
              <a:lnSpc>
                <a:spcPts val="1847"/>
              </a:lnSpc>
              <a:buNone/>
            </a:pPr>
            <a:r>
              <a:rPr lang="en-US" sz="137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</a:t>
            </a:r>
            <a:endParaRPr lang="en-US" sz="13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77374" y="4690170"/>
            <a:ext cx="23282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39329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MONETIZATION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098277"/>
            <a:ext cx="532803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path to revenue</a:t>
            </a:r>
            <a:endParaRPr lang="en-US" sz="3100" dirty="0"/>
          </a:p>
        </p:txBody>
      </p:sp>
      <p:sp>
        <p:nvSpPr>
          <p:cNvPr id="18" name="Shape 15"/>
          <p:cNvSpPr/>
          <p:nvPr/>
        </p:nvSpPr>
        <p:spPr>
          <a:xfrm>
            <a:off x="731490" y="1924534"/>
            <a:ext cx="2438400" cy="2333625"/>
          </a:xfrm>
          <a:prstGeom prst="roundRect">
            <a:avLst>
              <a:gd name="adj" fmla="val 4310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36910" y="2129768"/>
            <a:ext cx="366712" cy="36671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7"/>
          <p:cNvSpPr/>
          <p:nvPr/>
        </p:nvSpPr>
        <p:spPr>
          <a:xfrm>
            <a:off x="937394" y="2720727"/>
            <a:ext cx="244039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Venue transactions</a:t>
            </a:r>
            <a:endParaRPr lang="en-US" sz="1510" dirty="0"/>
          </a:p>
        </p:txBody>
      </p:sp>
      <p:sp>
        <p:nvSpPr>
          <p:cNvPr id="21" name="Text 18"/>
          <p:cNvSpPr/>
          <p:nvPr/>
        </p:nvSpPr>
        <p:spPr>
          <a:xfrm>
            <a:off x="937394" y="3106787"/>
            <a:ext cx="2275165" cy="924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booking or</a:t>
            </a:r>
            <a:endParaRPr lang="en-US" sz="126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reservation fee when</a:t>
            </a:r>
            <a:endParaRPr lang="en-US" sz="126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venue partnerships are</a:t>
            </a:r>
            <a:endParaRPr lang="en-US" sz="126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added</a:t>
            </a:r>
            <a:endParaRPr lang="en-US" sz="1260" dirty="0"/>
          </a:p>
        </p:txBody>
      </p:sp>
      <p:sp>
        <p:nvSpPr>
          <p:cNvPr id="22" name="Shape 19"/>
          <p:cNvSpPr/>
          <p:nvPr/>
        </p:nvSpPr>
        <p:spPr>
          <a:xfrm>
            <a:off x="3352763" y="1924534"/>
            <a:ext cx="2438400" cy="2333625"/>
          </a:xfrm>
          <a:prstGeom prst="roundRect">
            <a:avLst>
              <a:gd name="adj" fmla="val 4310"/>
            </a:avLst>
          </a:prstGeom>
          <a:solidFill>
            <a:srgbClr val="FFFFFF">
              <a:alpha val="5098"/>
            </a:srgbClr>
          </a:solidFill>
          <a:ln w="4763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58146" y="2129768"/>
            <a:ext cx="366712" cy="3667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3558629" y="2720727"/>
            <a:ext cx="2354878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organizer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</a:t>
            </a:r>
            <a:endParaRPr lang="en-US" sz="1510" dirty="0"/>
          </a:p>
        </p:txBody>
      </p:sp>
      <p:sp>
        <p:nvSpPr>
          <p:cNvPr id="25" name="Text 22"/>
          <p:cNvSpPr/>
          <p:nvPr/>
        </p:nvSpPr>
        <p:spPr>
          <a:xfrm>
            <a:off x="3558629" y="3394770"/>
            <a:ext cx="2012424" cy="4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FEFEF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league and</a:t>
            </a:r>
            <a:endParaRPr lang="en-US" sz="126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FEFEF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organizer features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5974073" y="1924534"/>
            <a:ext cx="2438400" cy="2333625"/>
          </a:xfrm>
          <a:prstGeom prst="roundRect">
            <a:avLst>
              <a:gd name="adj" fmla="val 4310"/>
            </a:avLst>
          </a:prstGeom>
          <a:solidFill>
            <a:srgbClr val="FFFFFF">
              <a:alpha val="74902"/>
            </a:srgbClr>
          </a:solidFill>
          <a:ln w="4763">
            <a:solidFill>
              <a:srgbClr val="000000">
                <a:alpha val="7843"/>
              </a:srgbClr>
            </a:solidFill>
            <a:prstDash val="solid"/>
          </a:ln>
          <a:effectLst>
            <a:outerShdw sx="100000" sy="100000" kx="0" ky="0" algn="bl" rotWithShape="0" blurRad="182880" dist="91440" dir="5400000">
              <a:srgbClr val="111827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79455" y="2129768"/>
            <a:ext cx="366712" cy="36671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Text 25"/>
          <p:cNvSpPr/>
          <p:nvPr/>
        </p:nvSpPr>
        <p:spPr>
          <a:xfrm>
            <a:off x="6179939" y="2720727"/>
            <a:ext cx="234346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partnerships</a:t>
            </a:r>
            <a:endParaRPr lang="en-US" sz="1510" dirty="0"/>
          </a:p>
        </p:txBody>
      </p:sp>
      <p:sp>
        <p:nvSpPr>
          <p:cNvPr id="29" name="Text 26"/>
          <p:cNvSpPr/>
          <p:nvPr/>
        </p:nvSpPr>
        <p:spPr>
          <a:xfrm>
            <a:off x="6179939" y="3106787"/>
            <a:ext cx="2513819" cy="4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Partnerships with local</a:t>
            </a:r>
            <a:endParaRPr lang="en-US" sz="126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courts and sports venues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731490" y="4529807"/>
            <a:ext cx="507931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30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core coordination loop simple and useful.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090" y="-1097235"/>
            <a:ext cx="3200400" cy="3200400"/>
          </a:xfrm>
          <a:prstGeom prst="ellipse">
            <a:avLst/>
          </a:prstGeom>
          <a:solidFill>
            <a:srgbClr val="4D4DE6">
              <a:alpha val="3922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0597" y="4215705"/>
            <a:ext cx="157163" cy="157163"/>
          </a:xfrm>
          <a:prstGeom prst="ellipse">
            <a:avLst/>
          </a:prstGeom>
          <a:solidFill>
            <a:srgbClr val="F77418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75588" y="4690170"/>
            <a:ext cx="2351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08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0411" y="937282"/>
            <a:ext cx="52388" cy="523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716" y="883890"/>
            <a:ext cx="16415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spc="94" kern="0" dirty="0">
                <a:solidFill>
                  <a:srgbClr val="4F46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LOOP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31490" y="1188765"/>
            <a:ext cx="544972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55" kern="0" dirty="0">
                <a:solidFill>
                  <a:srgbClr val="1118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next validation loop</a:t>
            </a:r>
            <a:endParaRPr lang="en-US" sz="3100" dirty="0"/>
          </a:p>
        </p:txBody>
      </p:sp>
      <p:sp>
        <p:nvSpPr>
          <p:cNvPr id="18" name="Shape 15"/>
          <p:cNvSpPr/>
          <p:nvPr/>
        </p:nvSpPr>
        <p:spPr>
          <a:xfrm>
            <a:off x="732532" y="2157710"/>
            <a:ext cx="290513" cy="29051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6"/>
          <p:cNvSpPr/>
          <p:nvPr/>
        </p:nvSpPr>
        <p:spPr>
          <a:xfrm>
            <a:off x="837084" y="2250579"/>
            <a:ext cx="16298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731490" y="2566392"/>
            <a:ext cx="1368534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in one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neighborhood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1997311" y="2293218"/>
            <a:ext cx="338137" cy="28575"/>
          </a:xfrm>
          <a:prstGeom prst="rect">
            <a:avLst/>
          </a:prstGeom>
          <a:solidFill>
            <a:srgbClr val="4F46E5">
              <a:alpha val="3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336229" y="2157710"/>
            <a:ext cx="290513" cy="290513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2432819" y="2250579"/>
            <a:ext cx="1836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335188" y="2566392"/>
            <a:ext cx="1395137" cy="66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Watch how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quickly games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3601008" y="2293218"/>
            <a:ext cx="338137" cy="28575"/>
          </a:xfrm>
          <a:prstGeom prst="rect">
            <a:avLst/>
          </a:prstGeom>
          <a:solidFill>
            <a:srgbClr val="4F46E5">
              <a:alpha val="3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939927" y="2157710"/>
            <a:ext cx="290513" cy="29051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4"/>
          <p:cNvSpPr/>
          <p:nvPr/>
        </p:nvSpPr>
        <p:spPr>
          <a:xfrm>
            <a:off x="4035326" y="2250579"/>
            <a:ext cx="18668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938885" y="2566392"/>
            <a:ext cx="1256801" cy="66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participation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5204706" y="2293218"/>
            <a:ext cx="338137" cy="28575"/>
          </a:xfrm>
          <a:prstGeom prst="rect">
            <a:avLst/>
          </a:prstGeom>
          <a:solidFill>
            <a:srgbClr val="4F46E5">
              <a:alpha val="3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543624" y="2157710"/>
            <a:ext cx="290513" cy="290513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637237" y="2250579"/>
            <a:ext cx="1913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542583" y="2566392"/>
            <a:ext cx="1468078" cy="899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 which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sports and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slots have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pull</a:t>
            </a:r>
            <a:endParaRPr lang="en-US" sz="1220" dirty="0"/>
          </a:p>
        </p:txBody>
      </p:sp>
      <p:sp>
        <p:nvSpPr>
          <p:cNvPr id="33" name="Shape 30"/>
          <p:cNvSpPr/>
          <p:nvPr/>
        </p:nvSpPr>
        <p:spPr>
          <a:xfrm>
            <a:off x="6808403" y="2293218"/>
            <a:ext cx="338137" cy="28575"/>
          </a:xfrm>
          <a:prstGeom prst="rect">
            <a:avLst/>
          </a:prstGeom>
          <a:solidFill>
            <a:srgbClr val="4F46E5">
              <a:alpha val="3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147322" y="2157710"/>
            <a:ext cx="290513" cy="290513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2"/>
          <p:cNvSpPr/>
          <p:nvPr/>
        </p:nvSpPr>
        <p:spPr>
          <a:xfrm>
            <a:off x="7242051" y="2250579"/>
            <a:ext cx="1884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7146280" y="2566392"/>
            <a:ext cx="1376176" cy="1132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smarter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matching only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real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usage data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4B55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earns it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7415" y="-1690695"/>
            <a:ext cx="4661535" cy="466153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193" y="326603"/>
            <a:ext cx="128588" cy="128588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950863" y="318120"/>
            <a:ext cx="543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860" dirty="0"/>
          </a:p>
        </p:txBody>
      </p:sp>
      <p:sp>
        <p:nvSpPr>
          <p:cNvPr id="6" name="Shape 3"/>
          <p:cNvSpPr/>
          <p:nvPr/>
        </p:nvSpPr>
        <p:spPr>
          <a:xfrm>
            <a:off x="731044" y="4572521"/>
            <a:ext cx="7681912" cy="314325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731490" y="4690170"/>
            <a:ext cx="6236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1276945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1440433" y="4690170"/>
            <a:ext cx="10725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brief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331169" y="4690170"/>
            <a:ext cx="1270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2494657" y="4690170"/>
            <a:ext cx="4929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9497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289057" y="4690170"/>
            <a:ext cx="2176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</a:t>
            </a:r>
            <a:endParaRPr lang="en-US" sz="10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44" y="4572521"/>
            <a:ext cx="7681912" cy="314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490" y="1120155"/>
            <a:ext cx="13930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94" kern="0" dirty="0">
                <a:solidFill>
                  <a:srgbClr val="F973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TAKEAWAY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731490" y="1315492"/>
            <a:ext cx="817813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3890" b="1" spc="-233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PickUp turns ‘who’s in?’ into a</a:t>
            </a:r>
            <a:endParaRPr lang="en-US" sz="3890" dirty="0"/>
          </a:p>
        </p:txBody>
      </p:sp>
      <p:sp>
        <p:nvSpPr>
          <p:cNvPr id="16" name="Text 12"/>
          <p:cNvSpPr/>
          <p:nvPr/>
        </p:nvSpPr>
        <p:spPr>
          <a:xfrm>
            <a:off x="731490" y="1809304"/>
            <a:ext cx="140316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3890" b="1" spc="-233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plan.</a:t>
            </a:r>
            <a:endParaRPr lang="en-US" sz="3890" dirty="0"/>
          </a:p>
        </p:txBody>
      </p:sp>
      <p:sp>
        <p:nvSpPr>
          <p:cNvPr id="17" name="Text 13"/>
          <p:cNvSpPr/>
          <p:nvPr/>
        </p:nvSpPr>
        <p:spPr>
          <a:xfrm>
            <a:off x="731490" y="2604046"/>
            <a:ext cx="6238533" cy="925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8"/>
              </a:lnSpc>
              <a:buNone/>
            </a:pPr>
            <a:r>
              <a:rPr lang="en-US" sz="169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a nearby game. Fill the spots. Get balanced</a:t>
            </a:r>
            <a:endParaRPr lang="en-US" sz="1690" dirty="0"/>
          </a:p>
          <a:p>
            <a:pPr algn="l" indent="0" marL="0">
              <a:lnSpc>
                <a:spcPts val="2538"/>
              </a:lnSpc>
              <a:buNone/>
            </a:pPr>
            <a:r>
              <a:rPr lang="en-US" sz="169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teams.</a:t>
            </a:r>
            <a:endParaRPr lang="en-US" sz="1690" dirty="0"/>
          </a:p>
          <a:p>
            <a:pPr algn="l" indent="0" marL="0">
              <a:lnSpc>
                <a:spcPts val="2538"/>
              </a:lnSpc>
              <a:buNone/>
            </a:pPr>
            <a:r>
              <a:rPr lang="en-US" sz="1690" dirty="0">
                <a:solidFill>
                  <a:srgbClr val="BCBE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 more. Plan less.</a:t>
            </a:r>
            <a:endParaRPr lang="en-US" sz="1690" dirty="0"/>
          </a:p>
        </p:txBody>
      </p:sp>
      <p:sp>
        <p:nvSpPr>
          <p:cNvPr id="18" name="Shape 14"/>
          <p:cNvSpPr/>
          <p:nvPr/>
        </p:nvSpPr>
        <p:spPr>
          <a:xfrm>
            <a:off x="731490" y="3808698"/>
            <a:ext cx="457200" cy="19050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2026-09-14T07:42:38Z</dcterms:created>
  <dcterms:modified xsi:type="dcterms:W3CDTF">2026-09-14T07:42:38Z</dcterms:modified>
</cp:coreProperties>
</file>